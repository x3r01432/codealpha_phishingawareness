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4106" y="6045098"/>
            <a:ext cx="11404397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6223406"/>
            <a:ext cx="3657600" cy="308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Phishing Awareness Training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417320"/>
            <a:ext cx="1828800" cy="54864"/>
          </a:xfrm>
          <a:prstGeom prst="rect">
            <a:avLst/>
          </a:prstGeom>
          <a:solidFill>
            <a:srgbClr val="51B4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91640"/>
            <a:ext cx="1127455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Phishing Awareness Training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Spot it. Stop it. Report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98348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CodeAlpha Cyber Security Internship  |  Task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4399178" y="0"/>
                </a:lnTo>
                <a:lnTo>
                  <a:pt x="4535424" y="136246"/>
                </a:lnTo>
                <a:lnTo>
                  <a:pt x="4535424" y="5002682"/>
                </a:lnTo>
                <a:lnTo>
                  <a:pt x="4399178" y="5138928"/>
                </a:lnTo>
                <a:lnTo>
                  <a:pt x="136246" y="5138928"/>
                </a:lnTo>
                <a:lnTo>
                  <a:pt x="0" y="5002682"/>
                </a:lnTo>
                <a:lnTo>
                  <a:pt x="0" y="136246"/>
                </a:lnTo>
              </a:path>
            </a:pathLst>
          </a:cu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4399178" y="0"/>
                </a:lnTo>
                <a:lnTo>
                  <a:pt x="4535424" y="136246"/>
                </a:lnTo>
                <a:lnTo>
                  <a:pt x="4535424" y="4404795"/>
                </a:lnTo>
                <a:lnTo>
                  <a:pt x="3887506" y="5138928"/>
                </a:lnTo>
                <a:lnTo>
                  <a:pt x="136246" y="5138928"/>
                </a:lnTo>
                <a:lnTo>
                  <a:pt x="0" y="5002682"/>
                </a:lnTo>
                <a:lnTo>
                  <a:pt x="0" y="136246"/>
                </a:lnTo>
              </a:path>
            </a:pathLst>
          </a:custGeom>
          <a:solidFill>
            <a:srgbClr val="010101"/>
          </a:solidFill>
          <a:ln/>
        </p:spPr>
      </p:sp>
      <p:sp>
        <p:nvSpPr>
          <p:cNvPr id="4" name="Shape 2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4399178" y="0"/>
                </a:lnTo>
                <a:lnTo>
                  <a:pt x="4535424" y="136246"/>
                </a:lnTo>
                <a:lnTo>
                  <a:pt x="4535424" y="3670663"/>
                </a:lnTo>
                <a:lnTo>
                  <a:pt x="3239589" y="5138928"/>
                </a:lnTo>
                <a:lnTo>
                  <a:pt x="136246" y="5138928"/>
                </a:lnTo>
                <a:lnTo>
                  <a:pt x="0" y="5002682"/>
                </a:lnTo>
                <a:lnTo>
                  <a:pt x="0" y="136246"/>
                </a:lnTo>
              </a:path>
            </a:pathLst>
          </a:custGeom>
          <a:solidFill>
            <a:srgbClr val="070C0C"/>
          </a:solidFill>
          <a:ln/>
        </p:spPr>
      </p:sp>
      <p:sp>
        <p:nvSpPr>
          <p:cNvPr id="5" name="Shape 3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4399178" y="0"/>
                </a:lnTo>
                <a:lnTo>
                  <a:pt x="4535424" y="136246"/>
                </a:lnTo>
                <a:lnTo>
                  <a:pt x="4535424" y="2936530"/>
                </a:lnTo>
                <a:lnTo>
                  <a:pt x="2591671" y="5138928"/>
                </a:lnTo>
                <a:lnTo>
                  <a:pt x="136246" y="5138928"/>
                </a:lnTo>
                <a:lnTo>
                  <a:pt x="0" y="5002682"/>
                </a:lnTo>
                <a:lnTo>
                  <a:pt x="0" y="136246"/>
                </a:lnTo>
              </a:path>
            </a:pathLst>
          </a:custGeom>
          <a:solidFill>
            <a:srgbClr val="0E1718"/>
          </a:solidFill>
          <a:ln/>
        </p:spPr>
      </p:sp>
      <p:sp>
        <p:nvSpPr>
          <p:cNvPr id="6" name="Shape 4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4399178" y="0"/>
                </a:lnTo>
                <a:lnTo>
                  <a:pt x="4535424" y="136246"/>
                </a:lnTo>
                <a:lnTo>
                  <a:pt x="4535424" y="2202398"/>
                </a:lnTo>
                <a:lnTo>
                  <a:pt x="1943753" y="5138928"/>
                </a:lnTo>
                <a:lnTo>
                  <a:pt x="136246" y="5138928"/>
                </a:lnTo>
                <a:lnTo>
                  <a:pt x="0" y="5002682"/>
                </a:lnTo>
                <a:lnTo>
                  <a:pt x="0" y="136246"/>
                </a:lnTo>
              </a:path>
            </a:pathLst>
          </a:custGeom>
          <a:solidFill>
            <a:srgbClr val="162324"/>
          </a:solidFill>
          <a:ln/>
        </p:spPr>
      </p:sp>
      <p:sp>
        <p:nvSpPr>
          <p:cNvPr id="7" name="Shape 5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4399178" y="0"/>
                </a:lnTo>
                <a:lnTo>
                  <a:pt x="4535424" y="136246"/>
                </a:lnTo>
                <a:lnTo>
                  <a:pt x="4535424" y="1468265"/>
                </a:lnTo>
                <a:lnTo>
                  <a:pt x="1295835" y="5138928"/>
                </a:lnTo>
                <a:lnTo>
                  <a:pt x="136246" y="5138928"/>
                </a:lnTo>
                <a:lnTo>
                  <a:pt x="0" y="5002682"/>
                </a:lnTo>
                <a:lnTo>
                  <a:pt x="0" y="136246"/>
                </a:lnTo>
              </a:path>
            </a:pathLst>
          </a:custGeom>
          <a:solidFill>
            <a:srgbClr val="1E2F32"/>
          </a:solidFill>
          <a:ln/>
        </p:spPr>
      </p:sp>
      <p:sp>
        <p:nvSpPr>
          <p:cNvPr id="8" name="Shape 6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4399178" y="0"/>
                </a:lnTo>
                <a:lnTo>
                  <a:pt x="4535424" y="136246"/>
                </a:lnTo>
                <a:lnTo>
                  <a:pt x="4535424" y="734133"/>
                </a:lnTo>
                <a:lnTo>
                  <a:pt x="647918" y="5138928"/>
                </a:lnTo>
                <a:lnTo>
                  <a:pt x="136246" y="5138928"/>
                </a:lnTo>
                <a:lnTo>
                  <a:pt x="0" y="5002682"/>
                </a:lnTo>
                <a:lnTo>
                  <a:pt x="0" y="136246"/>
                </a:lnTo>
              </a:path>
            </a:pathLst>
          </a:custGeom>
          <a:solidFill>
            <a:srgbClr val="263D40"/>
          </a:solidFill>
          <a:ln/>
        </p:spPr>
      </p:sp>
      <p:sp>
        <p:nvSpPr>
          <p:cNvPr id="9" name="Shape 7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4399178" y="0"/>
                </a:lnTo>
                <a:lnTo>
                  <a:pt x="4471551" y="72372"/>
                </a:lnTo>
                <a:lnTo>
                  <a:pt x="63873" y="5066556"/>
                </a:lnTo>
                <a:lnTo>
                  <a:pt x="0" y="5002682"/>
                </a:lnTo>
                <a:lnTo>
                  <a:pt x="0" y="136246"/>
                </a:lnTo>
              </a:path>
            </a:pathLst>
          </a:custGeom>
          <a:solidFill>
            <a:srgbClr val="2F4A4E"/>
          </a:solidFill>
          <a:ln/>
        </p:spPr>
      </p:sp>
      <p:sp>
        <p:nvSpPr>
          <p:cNvPr id="10" name="Shape 8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3887506" y="0"/>
                </a:lnTo>
                <a:lnTo>
                  <a:pt x="0" y="4404795"/>
                </a:lnTo>
                <a:lnTo>
                  <a:pt x="0" y="136246"/>
                </a:lnTo>
              </a:path>
            </a:pathLst>
          </a:custGeom>
          <a:solidFill>
            <a:srgbClr val="38595E"/>
          </a:solidFill>
          <a:ln/>
        </p:spPr>
      </p:sp>
      <p:sp>
        <p:nvSpPr>
          <p:cNvPr id="11" name="Shape 9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3239589" y="0"/>
                </a:lnTo>
                <a:lnTo>
                  <a:pt x="0" y="3670663"/>
                </a:lnTo>
                <a:lnTo>
                  <a:pt x="0" y="136246"/>
                </a:lnTo>
              </a:path>
            </a:pathLst>
          </a:custGeom>
          <a:solidFill>
            <a:srgbClr val="42686E"/>
          </a:solidFill>
          <a:ln/>
        </p:spPr>
      </p:sp>
      <p:sp>
        <p:nvSpPr>
          <p:cNvPr id="12" name="Shape 10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2591671" y="0"/>
                </a:lnTo>
                <a:lnTo>
                  <a:pt x="0" y="2936530"/>
                </a:lnTo>
                <a:lnTo>
                  <a:pt x="0" y="136246"/>
                </a:lnTo>
              </a:path>
            </a:pathLst>
          </a:custGeom>
          <a:solidFill>
            <a:srgbClr val="4C787E"/>
          </a:solidFill>
          <a:ln/>
        </p:spPr>
      </p:sp>
      <p:sp>
        <p:nvSpPr>
          <p:cNvPr id="13" name="Shape 11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1943753" y="0"/>
                </a:lnTo>
                <a:lnTo>
                  <a:pt x="0" y="2202398"/>
                </a:lnTo>
                <a:lnTo>
                  <a:pt x="0" y="136246"/>
                </a:lnTo>
              </a:path>
            </a:pathLst>
          </a:custGeom>
          <a:solidFill>
            <a:srgbClr val="578990"/>
          </a:solidFill>
          <a:ln/>
        </p:spPr>
      </p:sp>
      <p:sp>
        <p:nvSpPr>
          <p:cNvPr id="14" name="Shape 12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1295835" y="0"/>
                </a:lnTo>
                <a:lnTo>
                  <a:pt x="0" y="1468265"/>
                </a:lnTo>
                <a:lnTo>
                  <a:pt x="0" y="136246"/>
                </a:lnTo>
              </a:path>
            </a:pathLst>
          </a:custGeom>
          <a:solidFill>
            <a:srgbClr val="629BA2"/>
          </a:solidFill>
          <a:ln/>
        </p:spPr>
      </p:sp>
      <p:sp>
        <p:nvSpPr>
          <p:cNvPr id="15" name="Shape 13"/>
          <p:cNvSpPr/>
          <p:nvPr/>
        </p:nvSpPr>
        <p:spPr>
          <a:xfrm>
            <a:off x="7187184" y="566928"/>
            <a:ext cx="4535424" cy="5138928"/>
          </a:xfrm>
          <a:custGeom>
            <a:avLst/>
            <a:gdLst/>
            <a:ahLst/>
            <a:cxnLst/>
            <a:rect l="l" t="t" r="r" b="b"/>
            <a:pathLst>
              <a:path w="4535424" h="5138928">
                <a:moveTo>
                  <a:pt x="136246" y="0"/>
                </a:moveTo>
                <a:lnTo>
                  <a:pt x="647918" y="0"/>
                </a:lnTo>
                <a:lnTo>
                  <a:pt x="0" y="734133"/>
                </a:lnTo>
                <a:lnTo>
                  <a:pt x="0" y="136246"/>
                </a:lnTo>
              </a:path>
            </a:pathLst>
          </a:custGeom>
          <a:solidFill>
            <a:srgbClr val="6DADB5"/>
          </a:solidFill>
          <a:ln/>
        </p:spPr>
      </p:sp>
      <p:sp>
        <p:nvSpPr>
          <p:cNvPr id="16" name="Shape 14"/>
          <p:cNvSpPr/>
          <p:nvPr/>
        </p:nvSpPr>
        <p:spPr>
          <a:xfrm>
            <a:off x="7187184" y="566928"/>
            <a:ext cx="4535424" cy="5138928"/>
          </a:xfrm>
          <a:prstGeom prst="roundRect">
            <a:avLst>
              <a:gd name="adj" fmla="val 3004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5720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Phishing tricks people, not computers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02920" y="224028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Phishing is a social-engineering attack: a criminal poses as a trusted person or organization, by email, text, phone, or a fake website, to get you to reveal information, open a file, or send money.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Why attackers use it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It is cheap, reaches thousands of people at once, and gets past technical defenses by exploiting trust, fear, and haste.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89520" y="868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cost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680960" y="1645920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828946" y="1858427"/>
            <a:ext cx="157716" cy="157716"/>
          </a:xfrm>
          <a:prstGeom prst="ellipse">
            <a:avLst/>
          </a:prstGeom>
          <a:noFill/>
          <a:ln w="26883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2324" y="1922947"/>
            <a:ext cx="193560" cy="322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101365" y="1951622"/>
            <a:ext cx="28676" cy="573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893467" y="2051987"/>
            <a:ext cx="236574" cy="286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Credential theft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0" y="20299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Stolen passwords open email, cloud, and bank accounts.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2944368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7839700" y="3103108"/>
            <a:ext cx="322600" cy="322600"/>
          </a:xfrm>
          <a:prstGeom prst="ellipse">
            <a:avLst/>
          </a:prstGeom>
          <a:noFill/>
          <a:ln w="26883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47233" y="3210641"/>
            <a:ext cx="107533" cy="1075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983078" y="3085186"/>
            <a:ext cx="35844" cy="573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983078" y="3386279"/>
            <a:ext cx="35844" cy="573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2944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Malware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503920" y="3328416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Links and attachments install ransomware or spyware.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80960" y="4242816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7836115" y="4469660"/>
            <a:ext cx="329769" cy="186391"/>
          </a:xfrm>
          <a:prstGeom prst="rect">
            <a:avLst/>
          </a:prstGeom>
          <a:ln w="26883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47233" y="4509089"/>
            <a:ext cx="107533" cy="107533"/>
          </a:xfrm>
          <a:prstGeom prst="ellipse">
            <a:avLst/>
          </a:prstGeom>
          <a:noFill/>
          <a:ln w="26883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57622" y="4541349"/>
            <a:ext cx="21507" cy="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122871" y="4541349"/>
            <a:ext cx="21507" cy="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2428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Financial loss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503920" y="462686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Fake invoices and payment requests move real money to criminals.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Five channels, one trick: fake trust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48939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69164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73B6BF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2112264"/>
            <a:ext cx="630936" cy="438912"/>
          </a:xfrm>
          <a:prstGeom prst="rect">
            <a:avLst/>
          </a:prstGeom>
          <a:ln w="5143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6444" y="2194560"/>
            <a:ext cx="27432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540764" y="2194560"/>
            <a:ext cx="274320" cy="411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06474" y="2235708"/>
            <a:ext cx="68580" cy="685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57784" y="2889504"/>
            <a:ext cx="438912" cy="438912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Email phishing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20756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Mass emails posing as banks, delivery firms, or IT, sent to thousands at once.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25496" y="160020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3B8975"/>
          </a:solidFill>
          <a:ln/>
        </p:spPr>
      </p:sp>
      <p:sp>
        <p:nvSpPr>
          <p:cNvPr id="14" name="Shape 12"/>
          <p:cNvSpPr/>
          <p:nvPr/>
        </p:nvSpPr>
        <p:spPr>
          <a:xfrm>
            <a:off x="2779776" y="169164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51B49B"/>
          </a:solidFill>
          <a:ln/>
        </p:spPr>
      </p:sp>
      <p:sp>
        <p:nvSpPr>
          <p:cNvPr id="15" name="Shape 13"/>
          <p:cNvSpPr/>
          <p:nvPr/>
        </p:nvSpPr>
        <p:spPr>
          <a:xfrm>
            <a:off x="3495294" y="2009394"/>
            <a:ext cx="644652" cy="644652"/>
          </a:xfrm>
          <a:prstGeom prst="ellipse">
            <a:avLst/>
          </a:prstGeom>
          <a:noFill/>
          <a:ln w="5143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25596" y="2139696"/>
            <a:ext cx="384048" cy="384048"/>
          </a:xfrm>
          <a:prstGeom prst="ellipse">
            <a:avLst/>
          </a:prstGeom>
          <a:noFill/>
          <a:ln w="5143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263140"/>
            <a:ext cx="13716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834640" y="2889504"/>
            <a:ext cx="438912" cy="438912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79776" y="352044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Spear phishing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779776" y="4023360"/>
            <a:ext cx="20756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Targeted messages that use your name, role, or colleagues to seem credible.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02352" y="160020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48939D"/>
          </a:solidFill>
          <a:ln/>
        </p:spPr>
      </p:sp>
      <p:sp>
        <p:nvSpPr>
          <p:cNvPr id="23" name="Shape 21"/>
          <p:cNvSpPr/>
          <p:nvPr/>
        </p:nvSpPr>
        <p:spPr>
          <a:xfrm>
            <a:off x="5056632" y="169164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73B6BF"/>
          </a:solidFill>
          <a:ln/>
        </p:spPr>
      </p:sp>
      <p:sp>
        <p:nvSpPr>
          <p:cNvPr id="24" name="Shape 22"/>
          <p:cNvSpPr/>
          <p:nvPr/>
        </p:nvSpPr>
        <p:spPr>
          <a:xfrm>
            <a:off x="5792724" y="2071116"/>
            <a:ext cx="603504" cy="397764"/>
          </a:xfrm>
          <a:prstGeom prst="rect">
            <a:avLst/>
          </a:prstGeom>
          <a:ln w="5143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88736" y="2468880"/>
            <a:ext cx="96012" cy="137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02452" y="2194560"/>
            <a:ext cx="384048" cy="480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02452" y="2318004"/>
            <a:ext cx="274320" cy="480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111496" y="2889504"/>
            <a:ext cx="438912" cy="438912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11496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56632" y="352044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Smishing (SMS)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056632" y="4023360"/>
            <a:ext cx="20756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Texts with fake delivery, bank, or prize alerts and a short link.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3B8975"/>
          </a:solidFill>
          <a:ln/>
        </p:spPr>
      </p:sp>
      <p:sp>
        <p:nvSpPr>
          <p:cNvPr id="33" name="Shape 31"/>
          <p:cNvSpPr/>
          <p:nvPr/>
        </p:nvSpPr>
        <p:spPr>
          <a:xfrm>
            <a:off x="7333488" y="169164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51B49B"/>
          </a:solidFill>
          <a:ln/>
        </p:spPr>
      </p:sp>
      <p:sp>
        <p:nvSpPr>
          <p:cNvPr id="34" name="Shape 32"/>
          <p:cNvSpPr/>
          <p:nvPr/>
        </p:nvSpPr>
        <p:spPr>
          <a:xfrm>
            <a:off x="8193024" y="2002536"/>
            <a:ext cx="356616" cy="65836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289036" y="2057400"/>
            <a:ext cx="164592" cy="342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323326" y="2530602"/>
            <a:ext cx="96012" cy="960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388352" y="2889504"/>
            <a:ext cx="438912" cy="438912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88352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33488" y="352044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Vishing (voice)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333488" y="4023360"/>
            <a:ext cx="20756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Calls from a fake help desk, bank, or official asking for codes or passwords.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656064" y="160020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48939D"/>
          </a:solidFill>
          <a:ln/>
        </p:spPr>
      </p:sp>
      <p:sp>
        <p:nvSpPr>
          <p:cNvPr id="42" name="Shape 40"/>
          <p:cNvSpPr/>
          <p:nvPr/>
        </p:nvSpPr>
        <p:spPr>
          <a:xfrm>
            <a:off x="9610344" y="1691640"/>
            <a:ext cx="2075688" cy="1371600"/>
          </a:xfrm>
          <a:prstGeom prst="roundRect">
            <a:avLst>
              <a:gd name="adj" fmla="val 12000"/>
            </a:avLst>
          </a:prstGeom>
          <a:solidFill>
            <a:srgbClr val="73B6BF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32720" y="2016252"/>
            <a:ext cx="411480" cy="411480"/>
          </a:xfrm>
          <a:prstGeom prst="rect">
            <a:avLst/>
          </a:prstGeom>
          <a:ln w="5143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52176" y="2235708"/>
            <a:ext cx="411480" cy="411480"/>
          </a:xfrm>
          <a:prstGeom prst="rect">
            <a:avLst/>
          </a:prstGeom>
          <a:ln w="5143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65208" y="2889504"/>
            <a:ext cx="438912" cy="438912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65208" y="2889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610344" y="3520440"/>
            <a:ext cx="20756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Clone phishing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610344" y="4023360"/>
            <a:ext cx="207568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copy of a real email you got, with the link or attachment swapped for a malicious one.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Six red flags give most phishing away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91440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91440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515983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287383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031966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574766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547949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862149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063931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149531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579914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436914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095897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724297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553150" y="32710"/>
                </a:move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58730" y="1978970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287383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515983" y="201168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574766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031966" y="201168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862149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547949" y="201168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149531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063931" y="201168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436914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579914" y="201168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724297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3095897" y="201168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1508760"/>
            <a:ext cx="3611880" cy="2011680"/>
          </a:xfrm>
          <a:prstGeom prst="roundRect">
            <a:avLst>
              <a:gd name="adj" fmla="val 4545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1728216"/>
            <a:ext cx="658368" cy="658368"/>
          </a:xfrm>
          <a:prstGeom prst="ellipse">
            <a:avLst/>
          </a:prstGeom>
          <a:solidFill>
            <a:srgbClr val="73B6BF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278" y="1884118"/>
            <a:ext cx="346565" cy="346565"/>
          </a:xfrm>
          <a:prstGeom prst="ellipse">
            <a:avLst/>
          </a:prstGeom>
          <a:noFill/>
          <a:ln w="27651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0499" y="1946794"/>
            <a:ext cx="22121" cy="1253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2065" y="2072147"/>
            <a:ext cx="58990" cy="5899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Urgency or threats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"Act within 1 hour or lose access." Pressure is meant to stop you thinking.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91440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91440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25" name="Shape 23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515983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287383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26" name="Shape 24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031966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574766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27" name="Shape 25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547949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862149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28" name="Shape 26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063931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149531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29" name="Shape 27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579914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436914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30" name="Shape 28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095897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724297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31" name="Shape 29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553150" y="32710"/>
                </a:move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58730" y="1978970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32" name="Shape 30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287383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515983" y="201168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33" name="Shape 31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574766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031966" y="201168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34" name="Shape 32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862149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547949" y="201168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35" name="Shape 33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149531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063931" y="201168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36" name="Shape 34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436914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579914" y="201168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288536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724297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3095897" y="201168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4288536" y="1508760"/>
            <a:ext cx="3611880" cy="2011680"/>
          </a:xfrm>
          <a:prstGeom prst="roundRect">
            <a:avLst>
              <a:gd name="adj" fmla="val 4545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07992" y="1728216"/>
            <a:ext cx="658368" cy="658368"/>
          </a:xfrm>
          <a:prstGeom prst="ellipse">
            <a:avLst/>
          </a:prstGeom>
          <a:solidFill>
            <a:srgbClr val="51B49B"/>
          </a:solidFill>
          <a:ln/>
        </p:spPr>
      </p:sp>
      <p:sp>
        <p:nvSpPr>
          <p:cNvPr id="40" name="Shape 38"/>
          <p:cNvSpPr/>
          <p:nvPr/>
        </p:nvSpPr>
        <p:spPr>
          <a:xfrm>
            <a:off x="4667580" y="1939420"/>
            <a:ext cx="339191" cy="235959"/>
          </a:xfrm>
          <a:prstGeom prst="rect">
            <a:avLst/>
          </a:prstGeom>
          <a:ln w="27651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9702" y="1983663"/>
            <a:ext cx="147474" cy="221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837176" y="1983663"/>
            <a:ext cx="147474" cy="221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818742" y="2005784"/>
            <a:ext cx="36869" cy="368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94376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Suspicious sender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4562856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name says "IT", but the address is a lookalike or free-mail domain.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91440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91440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47" name="Shape 45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515983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287383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48" name="Shape 46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031966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574766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49" name="Shape 47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547949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862149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50" name="Shape 48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063931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149531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51" name="Shape 49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579914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436914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52" name="Shape 50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095897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724297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53" name="Shape 51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553150" y="32710"/>
                </a:move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58730" y="1978970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54" name="Shape 52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287383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515983" y="201168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55" name="Shape 53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574766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031966" y="201168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56" name="Shape 54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862149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547949" y="201168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57" name="Shape 55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149531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063931" y="201168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58" name="Shape 56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436914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579914" y="201168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59" name="Shape 57"/>
          <p:cNvSpPr/>
          <p:nvPr/>
        </p:nvSpPr>
        <p:spPr>
          <a:xfrm>
            <a:off x="8074152" y="150876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724297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3095897" y="201168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60" name="Shape 58"/>
          <p:cNvSpPr/>
          <p:nvPr/>
        </p:nvSpPr>
        <p:spPr>
          <a:xfrm>
            <a:off x="8074152" y="1508760"/>
            <a:ext cx="3611880" cy="2011680"/>
          </a:xfrm>
          <a:prstGeom prst="roundRect">
            <a:avLst>
              <a:gd name="adj" fmla="val 4545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93608" y="1728216"/>
            <a:ext cx="658368" cy="658368"/>
          </a:xfrm>
          <a:prstGeom prst="ellipse">
            <a:avLst/>
          </a:prstGeom>
          <a:solidFill>
            <a:srgbClr val="73B6BF"/>
          </a:solidFill>
          <a:ln/>
        </p:spPr>
      </p:sp>
      <p:sp>
        <p:nvSpPr>
          <p:cNvPr id="62" name="Shape 60"/>
          <p:cNvSpPr/>
          <p:nvPr/>
        </p:nvSpPr>
        <p:spPr>
          <a:xfrm>
            <a:off x="8486378" y="1906239"/>
            <a:ext cx="110606" cy="1106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8648600" y="1906239"/>
            <a:ext cx="110606" cy="1106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8467944" y="2042653"/>
            <a:ext cx="140101" cy="154848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8637539" y="2042653"/>
            <a:ext cx="140101" cy="154848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9079992" y="1828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Generic greeting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348472" y="25146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"Dear user" or "Dear customer" instead of your name.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91440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91440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69" name="Shape 67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515983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287383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70" name="Shape 68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031966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574766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71" name="Shape 69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547949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862149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72" name="Shape 70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063931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149531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73" name="Shape 71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579914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436914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74" name="Shape 72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095897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724297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75" name="Shape 73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553150" y="32710"/>
                </a:move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58730" y="1978970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76" name="Shape 74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287383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515983" y="201168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77" name="Shape 75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574766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031966" y="201168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78" name="Shape 76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862149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547949" y="201168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79" name="Shape 77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149531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063931" y="201168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80" name="Shape 78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436914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579914" y="201168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81" name="Shape 79"/>
          <p:cNvSpPr/>
          <p:nvPr/>
        </p:nvSpPr>
        <p:spPr>
          <a:xfrm>
            <a:off x="502920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724297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3095897" y="201168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82" name="Shape 80"/>
          <p:cNvSpPr/>
          <p:nvPr/>
        </p:nvSpPr>
        <p:spPr>
          <a:xfrm>
            <a:off x="502920" y="3749040"/>
            <a:ext cx="3611880" cy="2011680"/>
          </a:xfrm>
          <a:prstGeom prst="roundRect">
            <a:avLst>
              <a:gd name="adj" fmla="val 4545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2376" y="3968496"/>
            <a:ext cx="658368" cy="658368"/>
          </a:xfrm>
          <a:prstGeom prst="ellipse">
            <a:avLst/>
          </a:prstGeom>
          <a:solidFill>
            <a:srgbClr val="51B49B"/>
          </a:solidFill>
          <a:ln/>
        </p:spPr>
      </p:sp>
      <p:sp>
        <p:nvSpPr>
          <p:cNvPr id="84" name="Shape 82"/>
          <p:cNvSpPr/>
          <p:nvPr/>
        </p:nvSpPr>
        <p:spPr>
          <a:xfrm>
            <a:off x="918833" y="4150206"/>
            <a:ext cx="265454" cy="302323"/>
          </a:xfrm>
          <a:prstGeom prst="rect">
            <a:avLst/>
          </a:prstGeom>
          <a:ln w="27651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2570" y="4120711"/>
            <a:ext cx="117980" cy="51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970449" y="4246064"/>
            <a:ext cx="162222" cy="25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970449" y="4319801"/>
            <a:ext cx="162222" cy="25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1508760" y="4069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Unexpected attachment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7724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Invoices, .zip, or macro-enabled files you did not ask for.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91440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91440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91" name="Shape 89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515983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287383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92" name="Shape 90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031966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574766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93" name="Shape 91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547949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862149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94" name="Shape 92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063931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149531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95" name="Shape 93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579914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436914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96" name="Shape 94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095897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724297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97" name="Shape 95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553150" y="32710"/>
                </a:move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58730" y="1978970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98" name="Shape 96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287383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515983" y="201168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99" name="Shape 97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574766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031966" y="201168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100" name="Shape 98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862149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547949" y="201168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101" name="Shape 99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149531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063931" y="201168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436914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579914" y="201168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288536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724297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3095897" y="201168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288536" y="3749040"/>
            <a:ext cx="3611880" cy="2011680"/>
          </a:xfrm>
          <a:prstGeom prst="roundRect">
            <a:avLst>
              <a:gd name="adj" fmla="val 4545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507992" y="3968496"/>
            <a:ext cx="658368" cy="658368"/>
          </a:xfrm>
          <a:prstGeom prst="ellipse">
            <a:avLst/>
          </a:prstGeom>
          <a:solidFill>
            <a:srgbClr val="73B6B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674954" y="4198135"/>
            <a:ext cx="199090" cy="199090"/>
          </a:xfrm>
          <a:prstGeom prst="ellipse">
            <a:avLst/>
          </a:prstGeom>
          <a:noFill/>
          <a:ln w="27651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800307" y="4198135"/>
            <a:ext cx="199090" cy="199090"/>
          </a:xfrm>
          <a:prstGeom prst="ellipse">
            <a:avLst/>
          </a:prstGeom>
          <a:noFill/>
          <a:ln w="27651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294376" y="4069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Link mismatch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4562856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Hover first: the real URL differs from the text or button shown.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91440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91440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515983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287383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031966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574766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1547949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862149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063931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149531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2579914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436914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095897" y="0"/>
                </a:moveTo>
                <a:lnTo>
                  <a:pt x="3520440" y="0"/>
                </a:ln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0" y="1920240"/>
                </a:lnTo>
                <a:lnTo>
                  <a:pt x="0" y="1724297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553150" y="32710"/>
                </a:moveTo>
                <a:lnTo>
                  <a:pt x="3611880" y="91440"/>
                </a:lnTo>
                <a:lnTo>
                  <a:pt x="3611880" y="1920240"/>
                </a:lnTo>
                <a:lnTo>
                  <a:pt x="3520440" y="2011680"/>
                </a:lnTo>
                <a:lnTo>
                  <a:pt x="91440" y="2011680"/>
                </a:lnTo>
                <a:lnTo>
                  <a:pt x="58730" y="1978970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287383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515983" y="201168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574766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031966" y="201168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120" name="Shape 118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862149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1547949" y="201168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149531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063931" y="201168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436914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2579914" y="201168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074152" y="3749040"/>
            <a:ext cx="3611880" cy="2011680"/>
          </a:xfrm>
          <a:custGeom>
            <a:avLst/>
            <a:gdLst/>
            <a:ahLst/>
            <a:cxnLst/>
            <a:rect l="l" t="t" r="r" b="b"/>
            <a:pathLst>
              <a:path w="3611880" h="2011680">
                <a:moveTo>
                  <a:pt x="3611880" y="1724297"/>
                </a:moveTo>
                <a:lnTo>
                  <a:pt x="3611880" y="1920240"/>
                </a:lnTo>
                <a:lnTo>
                  <a:pt x="3520440" y="2011680"/>
                </a:lnTo>
                <a:lnTo>
                  <a:pt x="3095897" y="201168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074152" y="3749040"/>
            <a:ext cx="3611880" cy="2011680"/>
          </a:xfrm>
          <a:prstGeom prst="roundRect">
            <a:avLst>
              <a:gd name="adj" fmla="val 4545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293608" y="3968496"/>
            <a:ext cx="658368" cy="658368"/>
          </a:xfrm>
          <a:prstGeom prst="ellipse">
            <a:avLst/>
          </a:prstGeom>
          <a:solidFill>
            <a:srgbClr val="51B49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8453196" y="4201822"/>
            <a:ext cx="339191" cy="191717"/>
          </a:xfrm>
          <a:prstGeom prst="rect">
            <a:avLst/>
          </a:prstGeom>
          <a:ln w="27651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567489" y="4242377"/>
            <a:ext cx="110606" cy="110606"/>
          </a:xfrm>
          <a:prstGeom prst="ellipse">
            <a:avLst/>
          </a:prstGeom>
          <a:noFill/>
          <a:ln w="27651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475318" y="4275559"/>
            <a:ext cx="22121" cy="442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8748145" y="4275559"/>
            <a:ext cx="22121" cy="442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8"/>
          <p:cNvSpPr/>
          <p:nvPr/>
        </p:nvSpPr>
        <p:spPr>
          <a:xfrm>
            <a:off x="9079992" y="4069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Asks for login or payment</a:t>
            </a:r>
            <a:endParaRPr lang="en-US" sz="1800" dirty="0"/>
          </a:p>
        </p:txBody>
      </p:sp>
      <p:sp>
        <p:nvSpPr>
          <p:cNvPr id="131" name="Text 129"/>
          <p:cNvSpPr/>
          <p:nvPr/>
        </p:nvSpPr>
        <p:spPr>
          <a:xfrm>
            <a:off x="8348472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IT and banks will not ask for your password or an urgent transfer by email.</a:t>
            </a:r>
            <a:endParaRPr lang="en-US" sz="1400" dirty="0"/>
          </a:p>
        </p:txBody>
      </p:sp>
      <p:sp>
        <p:nvSpPr>
          <p:cNvPr id="132" name="Text 130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Anatomy of a phishing email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6720840" cy="4526280"/>
          </a:xfrm>
          <a:prstGeom prst="roundRect">
            <a:avLst>
              <a:gd name="adj" fmla="val 2424"/>
            </a:avLst>
          </a:prstGeom>
          <a:solidFill>
            <a:srgbClr val="26262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" y="1344168"/>
            <a:ext cx="6684264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807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Inbox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From:  </a:t>
            </a: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IT Support &lt;it-support@yourc0mpany.com&gt;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57150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To:  </a:t>
            </a: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you@yourcompany.com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69464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Subject:  </a:t>
            </a:r>
            <a:r>
              <a:rPr lang="en-US" sz="1400" b="1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URGENT: Your account will be deleted in 1 hour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044952"/>
            <a:ext cx="6172200" cy="0"/>
          </a:xfrm>
          <a:prstGeom prst="line">
            <a:avLst/>
          </a:prstGeom>
          <a:noFill/>
          <a:ln w="9525">
            <a:solidFill>
              <a:srgbClr val="808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54680"/>
            <a:ext cx="5715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Dear user,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 detected unusual sign-in activity. Verify your password within 1 hour or your mailbox will be permanently deleted.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20624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73B6B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062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Verify account now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4251960"/>
            <a:ext cx="3291840" cy="347472"/>
          </a:xfrm>
          <a:prstGeom prst="rect">
            <a:avLst/>
          </a:prstGeom>
          <a:solidFill>
            <a:srgbClr val="E7E6E6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http://yourcompany.verify-login.example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93776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A1A1A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4509" y="5072177"/>
            <a:ext cx="210678" cy="239939"/>
          </a:xfrm>
          <a:prstGeom prst="rect">
            <a:avLst/>
          </a:prstGeom>
          <a:ln w="21946">
            <a:solidFill>
              <a:srgbClr val="51B4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3031" y="5048768"/>
            <a:ext cx="93635" cy="40965"/>
          </a:xfrm>
          <a:prstGeom prst="rect">
            <a:avLst/>
          </a:prstGeom>
          <a:solidFill>
            <a:srgbClr val="51B49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474" y="5148255"/>
            <a:ext cx="128748" cy="20483"/>
          </a:xfrm>
          <a:prstGeom prst="rect">
            <a:avLst/>
          </a:prstGeom>
          <a:solidFill>
            <a:srgbClr val="51B49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474" y="5206776"/>
            <a:ext cx="128748" cy="20483"/>
          </a:xfrm>
          <a:prstGeom prst="rect">
            <a:avLst/>
          </a:prstGeom>
          <a:solidFill>
            <a:srgbClr val="51B49B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49377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Security_Update.zip  (48 KB)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38544" y="1856232"/>
            <a:ext cx="402336" cy="402336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38544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38544" y="2551176"/>
            <a:ext cx="402336" cy="402336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38544" y="4224528"/>
            <a:ext cx="402336" cy="402336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38544" y="4988052"/>
            <a:ext cx="402336" cy="402336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49880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07224" y="1380744"/>
            <a:ext cx="438912" cy="438912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1380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13716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Fake sender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92440" y="175564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Official-looking name, but the domain swaps the letter o for a zero.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07224" y="2505456"/>
            <a:ext cx="438912" cy="438912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07224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92440" y="24963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Urgent subject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092440" y="288036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deadline and a threat push you to act before you think.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507224" y="3630168"/>
            <a:ext cx="438912" cy="438912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07224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92440" y="36210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Deceptive link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092440" y="400507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button hides a lookalike URL. Hover to see where it really goes.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507224" y="4754880"/>
            <a:ext cx="438912" cy="438912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07224" y="4754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092440" y="47457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Unexpected attachment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092440" y="512978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surprise .zip can carry malware. Do not open it.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Feels off? Pause before you 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777240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627017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554480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254034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2331720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881051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3108960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2508069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3886200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3135086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4663440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3762103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5379947" y="48995"/>
                </a:move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60733" y="4340125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5440680" y="627017"/>
                </a:moveTo>
                <a:lnTo>
                  <a:pt x="5440680" y="4279392"/>
                </a:lnTo>
                <a:lnTo>
                  <a:pt x="5330952" y="4389120"/>
                </a:lnTo>
                <a:lnTo>
                  <a:pt x="777240" y="438912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5440680" y="1254034"/>
                </a:moveTo>
                <a:lnTo>
                  <a:pt x="5440680" y="4279392"/>
                </a:lnTo>
                <a:lnTo>
                  <a:pt x="5330952" y="4389120"/>
                </a:lnTo>
                <a:lnTo>
                  <a:pt x="1554480" y="438912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5440680" y="1881051"/>
                </a:moveTo>
                <a:lnTo>
                  <a:pt x="5440680" y="4279392"/>
                </a:lnTo>
                <a:lnTo>
                  <a:pt x="5330952" y="4389120"/>
                </a:lnTo>
                <a:lnTo>
                  <a:pt x="2331720" y="438912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5440680" y="2508069"/>
                </a:moveTo>
                <a:lnTo>
                  <a:pt x="5440680" y="4279392"/>
                </a:lnTo>
                <a:lnTo>
                  <a:pt x="5330952" y="4389120"/>
                </a:lnTo>
                <a:lnTo>
                  <a:pt x="3108960" y="438912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5440680" y="3135086"/>
                </a:moveTo>
                <a:lnTo>
                  <a:pt x="5440680" y="4279392"/>
                </a:lnTo>
                <a:lnTo>
                  <a:pt x="5330952" y="4389120"/>
                </a:lnTo>
                <a:lnTo>
                  <a:pt x="3886200" y="438912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5440680" y="3762103"/>
                </a:moveTo>
                <a:lnTo>
                  <a:pt x="5440680" y="4279392"/>
                </a:lnTo>
                <a:lnTo>
                  <a:pt x="5330952" y="4389120"/>
                </a:lnTo>
                <a:lnTo>
                  <a:pt x="4663440" y="438912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1417320"/>
            <a:ext cx="5440680" cy="4389120"/>
          </a:xfrm>
          <a:prstGeom prst="roundRect">
            <a:avLst>
              <a:gd name="adj" fmla="val 2500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600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DON'T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686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&gt;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34440" y="25146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Click links or scan QR codes in the message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33375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Reply, or call phone numbers it gives you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416052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Download or open attachments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868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&gt;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498348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Enter your password or MFA code on a linked page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4279392"/>
                </a:lnTo>
                <a:lnTo>
                  <a:pt x="5330952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3762103"/>
                </a:lnTo>
                <a:lnTo>
                  <a:pt x="4663440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010101"/>
          </a:solidFill>
          <a:ln/>
        </p:spPr>
      </p:sp>
      <p:sp>
        <p:nvSpPr>
          <p:cNvPr id="29" name="Shape 27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3135086"/>
                </a:lnTo>
                <a:lnTo>
                  <a:pt x="3886200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070C0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2508069"/>
                </a:lnTo>
                <a:lnTo>
                  <a:pt x="3108960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0E1718"/>
          </a:solidFill>
          <a:ln/>
        </p:spPr>
      </p:sp>
      <p:sp>
        <p:nvSpPr>
          <p:cNvPr id="31" name="Shape 29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1881051"/>
                </a:lnTo>
                <a:lnTo>
                  <a:pt x="2331720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162324"/>
          </a:solidFill>
          <a:ln/>
        </p:spPr>
      </p:sp>
      <p:sp>
        <p:nvSpPr>
          <p:cNvPr id="32" name="Shape 30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1254034"/>
                </a:lnTo>
                <a:lnTo>
                  <a:pt x="1554480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1E2F32"/>
          </a:solidFill>
          <a:ln/>
        </p:spPr>
      </p:sp>
      <p:sp>
        <p:nvSpPr>
          <p:cNvPr id="33" name="Shape 31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440680" y="109728"/>
                </a:lnTo>
                <a:lnTo>
                  <a:pt x="5440680" y="627017"/>
                </a:lnTo>
                <a:lnTo>
                  <a:pt x="777240" y="4389120"/>
                </a:lnTo>
                <a:lnTo>
                  <a:pt x="109728" y="4389120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263D40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5330952" y="0"/>
                </a:lnTo>
                <a:lnTo>
                  <a:pt x="5379947" y="48995"/>
                </a:lnTo>
                <a:lnTo>
                  <a:pt x="60733" y="4340125"/>
                </a:lnTo>
                <a:lnTo>
                  <a:pt x="0" y="4279392"/>
                </a:lnTo>
                <a:lnTo>
                  <a:pt x="0" y="109728"/>
                </a:lnTo>
              </a:path>
            </a:pathLst>
          </a:custGeom>
          <a:solidFill>
            <a:srgbClr val="2F4A4E"/>
          </a:solidFill>
          <a:ln/>
        </p:spPr>
      </p:sp>
      <p:sp>
        <p:nvSpPr>
          <p:cNvPr id="35" name="Shape 33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4663440" y="0"/>
                </a:lnTo>
                <a:lnTo>
                  <a:pt x="0" y="3762103"/>
                </a:lnTo>
                <a:lnTo>
                  <a:pt x="0" y="109728"/>
                </a:lnTo>
              </a:path>
            </a:pathLst>
          </a:custGeom>
          <a:solidFill>
            <a:srgbClr val="38595E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3886200" y="0"/>
                </a:lnTo>
                <a:lnTo>
                  <a:pt x="0" y="3135086"/>
                </a:lnTo>
                <a:lnTo>
                  <a:pt x="0" y="109728"/>
                </a:lnTo>
              </a:path>
            </a:pathLst>
          </a:custGeom>
          <a:solidFill>
            <a:srgbClr val="42686E"/>
          </a:solidFill>
          <a:ln/>
        </p:spPr>
      </p:sp>
      <p:sp>
        <p:nvSpPr>
          <p:cNvPr id="37" name="Shape 35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3108960" y="0"/>
                </a:lnTo>
                <a:lnTo>
                  <a:pt x="0" y="2508069"/>
                </a:lnTo>
                <a:lnTo>
                  <a:pt x="0" y="109728"/>
                </a:lnTo>
              </a:path>
            </a:pathLst>
          </a:custGeom>
          <a:solidFill>
            <a:srgbClr val="4C787E"/>
          </a:solidFill>
          <a:ln/>
        </p:spPr>
      </p:sp>
      <p:sp>
        <p:nvSpPr>
          <p:cNvPr id="38" name="Shape 36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2331720" y="0"/>
                </a:lnTo>
                <a:lnTo>
                  <a:pt x="0" y="1881051"/>
                </a:lnTo>
                <a:lnTo>
                  <a:pt x="0" y="109728"/>
                </a:lnTo>
              </a:path>
            </a:pathLst>
          </a:custGeom>
          <a:solidFill>
            <a:srgbClr val="57899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1554480" y="0"/>
                </a:lnTo>
                <a:lnTo>
                  <a:pt x="0" y="1254034"/>
                </a:lnTo>
                <a:lnTo>
                  <a:pt x="0" y="109728"/>
                </a:lnTo>
              </a:path>
            </a:pathLst>
          </a:custGeom>
          <a:solidFill>
            <a:srgbClr val="629BA2"/>
          </a:solidFill>
          <a:ln/>
        </p:spPr>
      </p:sp>
      <p:sp>
        <p:nvSpPr>
          <p:cNvPr id="40" name="Shape 38"/>
          <p:cNvSpPr/>
          <p:nvPr/>
        </p:nvSpPr>
        <p:spPr>
          <a:xfrm>
            <a:off x="6245352" y="1417320"/>
            <a:ext cx="5440680" cy="4389120"/>
          </a:xfrm>
          <a:custGeom>
            <a:avLst/>
            <a:gdLst/>
            <a:ahLst/>
            <a:cxnLst/>
            <a:rect l="l" t="t" r="r" b="b"/>
            <a:pathLst>
              <a:path w="5440680" h="4389120">
                <a:moveTo>
                  <a:pt x="109728" y="0"/>
                </a:moveTo>
                <a:lnTo>
                  <a:pt x="777240" y="0"/>
                </a:lnTo>
                <a:lnTo>
                  <a:pt x="0" y="627017"/>
                </a:lnTo>
                <a:lnTo>
                  <a:pt x="0" y="109728"/>
                </a:lnTo>
              </a:path>
            </a:pathLst>
          </a:custGeom>
          <a:solidFill>
            <a:srgbClr val="6DADB5"/>
          </a:solidFill>
          <a:ln/>
        </p:spPr>
      </p:sp>
      <p:sp>
        <p:nvSpPr>
          <p:cNvPr id="41" name="Shape 39"/>
          <p:cNvSpPr/>
          <p:nvPr/>
        </p:nvSpPr>
        <p:spPr>
          <a:xfrm>
            <a:off x="6245352" y="1417320"/>
            <a:ext cx="5440680" cy="4389120"/>
          </a:xfrm>
          <a:prstGeom prst="roundRect">
            <a:avLst>
              <a:gd name="adj" fmla="val 2500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11112" y="1600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</a:t>
            </a:r>
            <a:endParaRPr lang="en-US" sz="4800" dirty="0"/>
          </a:p>
        </p:txBody>
      </p:sp>
      <p:sp>
        <p:nvSpPr>
          <p:cNvPr id="43" name="Text 41"/>
          <p:cNvSpPr/>
          <p:nvPr/>
        </p:nvSpPr>
        <p:spPr>
          <a:xfrm>
            <a:off x="6611112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&gt;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76872" y="251460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Check the sender address and hover over links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611112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&gt;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976872" y="33375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Verify via a known channel: official site, saved number, or in person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611112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&gt;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976872" y="416052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Report it to IT / security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6611112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&gt;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976872" y="498348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Clicked by mistake? Tell IT right away and change your password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Report it in three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056709"/>
                </a:lnTo>
                <a:lnTo>
                  <a:pt x="2943062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010101"/>
          </a:solidFill>
          <a:ln/>
        </p:spPr>
      </p:sp>
      <p:sp>
        <p:nvSpPr>
          <p:cNvPr id="5" name="Shape 3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2547257"/>
                </a:lnTo>
                <a:lnTo>
                  <a:pt x="2452551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070C0C"/>
          </a:solidFill>
          <a:ln/>
        </p:spPr>
      </p:sp>
      <p:sp>
        <p:nvSpPr>
          <p:cNvPr id="6" name="Shape 4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2037806"/>
                </a:lnTo>
                <a:lnTo>
                  <a:pt x="1962041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0E1718"/>
          </a:solidFill>
          <a:ln/>
        </p:spPr>
      </p:sp>
      <p:sp>
        <p:nvSpPr>
          <p:cNvPr id="7" name="Shape 5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1528354"/>
                </a:lnTo>
                <a:lnTo>
                  <a:pt x="1471531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162324"/>
          </a:solidFill>
          <a:ln/>
        </p:spPr>
      </p:sp>
      <p:sp>
        <p:nvSpPr>
          <p:cNvPr id="8" name="Shape 6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1018903"/>
                </a:lnTo>
                <a:lnTo>
                  <a:pt x="981021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1E2F32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509451"/>
                </a:lnTo>
                <a:lnTo>
                  <a:pt x="49051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263D40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382438" y="53108"/>
                </a:lnTo>
                <a:lnTo>
                  <a:pt x="51134" y="3513052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2F4A4E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2943062" y="0"/>
                </a:lnTo>
                <a:lnTo>
                  <a:pt x="0" y="3056709"/>
                </a:lnTo>
                <a:lnTo>
                  <a:pt x="0" y="104242"/>
                </a:lnTo>
              </a:path>
            </a:pathLst>
          </a:custGeom>
          <a:solidFill>
            <a:srgbClr val="38595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2452551" y="0"/>
                </a:lnTo>
                <a:lnTo>
                  <a:pt x="0" y="2547257"/>
                </a:lnTo>
                <a:lnTo>
                  <a:pt x="0" y="104242"/>
                </a:lnTo>
              </a:path>
            </a:pathLst>
          </a:custGeom>
          <a:solidFill>
            <a:srgbClr val="42686E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1962041" y="0"/>
                </a:lnTo>
                <a:lnTo>
                  <a:pt x="0" y="2037806"/>
                </a:lnTo>
                <a:lnTo>
                  <a:pt x="0" y="104242"/>
                </a:lnTo>
              </a:path>
            </a:pathLst>
          </a:custGeom>
          <a:solidFill>
            <a:srgbClr val="4C787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1471531" y="0"/>
                </a:lnTo>
                <a:lnTo>
                  <a:pt x="0" y="1528354"/>
                </a:lnTo>
                <a:lnTo>
                  <a:pt x="0" y="104242"/>
                </a:lnTo>
              </a:path>
            </a:pathLst>
          </a:custGeom>
          <a:solidFill>
            <a:srgbClr val="578990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981021" y="0"/>
                </a:lnTo>
                <a:lnTo>
                  <a:pt x="0" y="1018903"/>
                </a:lnTo>
                <a:lnTo>
                  <a:pt x="0" y="104242"/>
                </a:lnTo>
              </a:path>
            </a:pathLst>
          </a:custGeom>
          <a:solidFill>
            <a:srgbClr val="629BA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490510" y="0"/>
                </a:lnTo>
                <a:lnTo>
                  <a:pt x="0" y="509451"/>
                </a:lnTo>
                <a:lnTo>
                  <a:pt x="0" y="104242"/>
                </a:lnTo>
              </a:path>
            </a:pathLst>
          </a:custGeom>
          <a:solidFill>
            <a:srgbClr val="6DADB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" y="1508760"/>
            <a:ext cx="3433572" cy="3566160"/>
          </a:xfrm>
          <a:prstGeom prst="roundRect">
            <a:avLst>
              <a:gd name="adj" fmla="val 3036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" y="1645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01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928116" y="2606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the Report button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28116" y="342900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 your mail app, select the message and click "Report phishing" or "Report message".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22" name="Shape 20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490510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509451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23" name="Shape 21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981021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18903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24" name="Shape 22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471531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528354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25" name="Shape 23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962041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2037806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26" name="Shape 24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2452551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2547257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27" name="Shape 25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294306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3056709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28" name="Shape 26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382438" y="53108"/>
                </a:move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51134" y="3513052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29" name="Shape 27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509451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490510" y="356616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30" name="Shape 28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1018903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981021" y="356616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31" name="Shape 29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1528354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1471531" y="356616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32" name="Shape 30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2037806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1962041" y="356616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33" name="Shape 31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2547257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2452551" y="356616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4379062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3056709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2943062" y="356616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4379062" y="1508760"/>
            <a:ext cx="3433572" cy="3566160"/>
          </a:xfrm>
          <a:prstGeom prst="roundRect">
            <a:avLst>
              <a:gd name="adj" fmla="val 3036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3382" y="1645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02</a:t>
            </a:r>
            <a:endParaRPr lang="en-US" sz="5400" dirty="0"/>
          </a:p>
        </p:txBody>
      </p:sp>
      <p:sp>
        <p:nvSpPr>
          <p:cNvPr id="37" name="Text 35"/>
          <p:cNvSpPr/>
          <p:nvPr/>
        </p:nvSpPr>
        <p:spPr>
          <a:xfrm>
            <a:off x="4653382" y="2606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Or forward to security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4653382" y="342900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 button? Forward it as an attachment to your security team (e.g. security@yourcompany.com) so the headers are kept.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0424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4242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40" name="Shape 38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490510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509451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41" name="Shape 39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981021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018903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42" name="Shape 40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471531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1528354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43" name="Shape 41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1962041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2037806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44" name="Shape 42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2452551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2547257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45" name="Shape 43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2943062" y="0"/>
                </a:moveTo>
                <a:lnTo>
                  <a:pt x="3329330" y="0"/>
                </a:ln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0" y="3461918"/>
                </a:lnTo>
                <a:lnTo>
                  <a:pt x="0" y="3056709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46" name="Shape 44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382438" y="53108"/>
                </a:moveTo>
                <a:lnTo>
                  <a:pt x="3433572" y="104242"/>
                </a:lnTo>
                <a:lnTo>
                  <a:pt x="3433572" y="3461918"/>
                </a:lnTo>
                <a:lnTo>
                  <a:pt x="3329330" y="3566160"/>
                </a:lnTo>
                <a:lnTo>
                  <a:pt x="104242" y="3566160"/>
                </a:lnTo>
                <a:lnTo>
                  <a:pt x="51134" y="3513052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47" name="Shape 45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509451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490510" y="356616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48" name="Shape 46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1018903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981021" y="356616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49" name="Shape 47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1528354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1471531" y="356616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50" name="Shape 48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2037806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1962041" y="356616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51" name="Shape 49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2547257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2452551" y="356616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52" name="Shape 50"/>
          <p:cNvSpPr/>
          <p:nvPr/>
        </p:nvSpPr>
        <p:spPr>
          <a:xfrm>
            <a:off x="8104327" y="1508760"/>
            <a:ext cx="3433572" cy="3566160"/>
          </a:xfrm>
          <a:custGeom>
            <a:avLst/>
            <a:gdLst/>
            <a:ahLst/>
            <a:cxnLst/>
            <a:rect l="l" t="t" r="r" b="b"/>
            <a:pathLst>
              <a:path w="3433572" h="3566160">
                <a:moveTo>
                  <a:pt x="3433572" y="3056709"/>
                </a:moveTo>
                <a:lnTo>
                  <a:pt x="3433572" y="3461918"/>
                </a:lnTo>
                <a:lnTo>
                  <a:pt x="3329330" y="3566160"/>
                </a:lnTo>
                <a:lnTo>
                  <a:pt x="2943062" y="356616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53" name="Shape 51"/>
          <p:cNvSpPr/>
          <p:nvPr/>
        </p:nvSpPr>
        <p:spPr>
          <a:xfrm>
            <a:off x="8104327" y="1508760"/>
            <a:ext cx="3433572" cy="3566160"/>
          </a:xfrm>
          <a:prstGeom prst="roundRect">
            <a:avLst>
              <a:gd name="adj" fmla="val 3036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78647" y="1645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03</a:t>
            </a:r>
            <a:endParaRPr lang="en-US" sz="5400" dirty="0"/>
          </a:p>
        </p:txBody>
      </p:sp>
      <p:sp>
        <p:nvSpPr>
          <p:cNvPr id="55" name="Text 53"/>
          <p:cNvSpPr/>
          <p:nvPr/>
        </p:nvSpPr>
        <p:spPr>
          <a:xfrm>
            <a:off x="8378647" y="2606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Then delete it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8378647" y="342900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After reporting, delete the message. Do not forward it to colleagues as a warning.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53796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1B49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Already clicked or typed a password?  </a:t>
            </a:r>
            <a:r>
              <a:rPr lang="en-US" sz="15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Report it immediately. Fast reporting limits the damage.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0" y="0"/>
                </a:lnTo>
                <a:lnTo>
                  <a:pt x="0" y="6858000"/>
                </a:lnTo>
                <a:lnTo>
                  <a:pt x="1486522" y="6858000"/>
                </a:lnTo>
                <a:lnTo>
                  <a:pt x="2601413" y="6487668"/>
                </a:lnTo>
                <a:lnTo>
                  <a:pt x="4571055" y="5808726"/>
                </a:lnTo>
                <a:lnTo>
                  <a:pt x="5165663" y="5575554"/>
                </a:lnTo>
              </a:path>
            </a:pathLst>
          </a:cu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0" y="0"/>
                </a:lnTo>
                <a:lnTo>
                  <a:pt x="0" y="5878286"/>
                </a:lnTo>
                <a:lnTo>
                  <a:pt x="758429" y="6858000"/>
                </a:lnTo>
                <a:lnTo>
                  <a:pt x="1486522" y="6858000"/>
                </a:lnTo>
                <a:lnTo>
                  <a:pt x="2601413" y="6487668"/>
                </a:lnTo>
                <a:lnTo>
                  <a:pt x="4571055" y="5808726"/>
                </a:lnTo>
                <a:lnTo>
                  <a:pt x="5165663" y="5575554"/>
                </a:lnTo>
              </a:path>
            </a:pathLst>
          </a:custGeom>
          <a:solidFill>
            <a:srgbClr val="010101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0" y="0"/>
                </a:lnTo>
                <a:lnTo>
                  <a:pt x="0" y="4898571"/>
                </a:lnTo>
                <a:lnTo>
                  <a:pt x="1510654" y="6849984"/>
                </a:lnTo>
                <a:lnTo>
                  <a:pt x="2601413" y="6487668"/>
                </a:lnTo>
                <a:lnTo>
                  <a:pt x="4571055" y="5808726"/>
                </a:lnTo>
                <a:lnTo>
                  <a:pt x="5165663" y="5575554"/>
                </a:lnTo>
              </a:path>
            </a:pathLst>
          </a:custGeom>
          <a:solidFill>
            <a:srgbClr val="070C0C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0" y="0"/>
                </a:lnTo>
                <a:lnTo>
                  <a:pt x="0" y="3918857"/>
                </a:lnTo>
                <a:lnTo>
                  <a:pt x="2113950" y="6649588"/>
                </a:lnTo>
                <a:lnTo>
                  <a:pt x="2601413" y="6487668"/>
                </a:lnTo>
                <a:lnTo>
                  <a:pt x="4571055" y="5808726"/>
                </a:lnTo>
                <a:lnTo>
                  <a:pt x="5165663" y="5575554"/>
                </a:lnTo>
              </a:path>
            </a:pathLst>
          </a:custGeom>
          <a:solidFill>
            <a:srgbClr val="0E1718"/>
          </a:solidFill>
          <a:ln/>
        </p:spPr>
      </p:sp>
      <p:sp>
        <p:nvSpPr>
          <p:cNvPr id="6" name="Shape 4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0" y="0"/>
                </a:lnTo>
                <a:lnTo>
                  <a:pt x="0" y="2939143"/>
                </a:lnTo>
                <a:lnTo>
                  <a:pt x="2716359" y="6448046"/>
                </a:lnTo>
                <a:lnTo>
                  <a:pt x="4571055" y="5808726"/>
                </a:lnTo>
                <a:lnTo>
                  <a:pt x="5165663" y="5575554"/>
                </a:lnTo>
              </a:path>
            </a:pathLst>
          </a:custGeom>
          <a:solidFill>
            <a:srgbClr val="162324"/>
          </a:solidFill>
          <a:ln/>
        </p:spPr>
      </p:sp>
      <p:sp>
        <p:nvSpPr>
          <p:cNvPr id="7" name="Shape 5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0" y="0"/>
                </a:lnTo>
                <a:lnTo>
                  <a:pt x="0" y="1959429"/>
                </a:lnTo>
                <a:lnTo>
                  <a:pt x="3315034" y="6241681"/>
                </a:lnTo>
                <a:lnTo>
                  <a:pt x="4571055" y="5808726"/>
                </a:lnTo>
                <a:lnTo>
                  <a:pt x="5165663" y="5575554"/>
                </a:lnTo>
              </a:path>
            </a:pathLst>
          </a:custGeom>
          <a:solidFill>
            <a:srgbClr val="1E2F32"/>
          </a:solidFill>
          <a:ln/>
        </p:spPr>
      </p:sp>
      <p:sp>
        <p:nvSpPr>
          <p:cNvPr id="8" name="Shape 6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0" y="0"/>
                </a:lnTo>
                <a:lnTo>
                  <a:pt x="0" y="979714"/>
                </a:lnTo>
                <a:lnTo>
                  <a:pt x="3913709" y="6035315"/>
                </a:lnTo>
                <a:lnTo>
                  <a:pt x="4571055" y="5808726"/>
                </a:lnTo>
                <a:lnTo>
                  <a:pt x="5165663" y="5575554"/>
                </a:lnTo>
              </a:path>
            </a:pathLst>
          </a:custGeom>
          <a:solidFill>
            <a:srgbClr val="263D40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0" y="0"/>
                </a:lnTo>
                <a:lnTo>
                  <a:pt x="4512384" y="5828950"/>
                </a:lnTo>
                <a:lnTo>
                  <a:pt x="4571055" y="5808726"/>
                </a:lnTo>
                <a:lnTo>
                  <a:pt x="5165663" y="5575554"/>
                </a:lnTo>
              </a:path>
            </a:pathLst>
          </a:custGeom>
          <a:solidFill>
            <a:srgbClr val="2F4A4E"/>
          </a:solidFill>
          <a:ln/>
        </p:spPr>
      </p:sp>
      <p:sp>
        <p:nvSpPr>
          <p:cNvPr id="10" name="Shape 8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9006" y="5472684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758429" y="0"/>
                </a:lnTo>
                <a:lnTo>
                  <a:pt x="5095846" y="5602932"/>
                </a:lnTo>
                <a:lnTo>
                  <a:pt x="5165663" y="5575554"/>
                </a:lnTo>
              </a:path>
            </a:pathLst>
          </a:custGeom>
          <a:solidFill>
            <a:srgbClr val="38595E"/>
          </a:solidFill>
          <a:ln/>
        </p:spPr>
      </p:sp>
      <p:sp>
        <p:nvSpPr>
          <p:cNvPr id="11" name="Shape 9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6708" y="4895602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1651101" y="0"/>
                </a:lnTo>
                <a:lnTo>
                  <a:pt x="1516859" y="0"/>
                </a:lnTo>
              </a:path>
            </a:pathLst>
          </a:custGeom>
          <a:solidFill>
            <a:srgbClr val="42686E"/>
          </a:solidFill>
          <a:ln/>
        </p:spPr>
      </p:sp>
      <p:sp>
        <p:nvSpPr>
          <p:cNvPr id="12" name="Shape 10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302785" y="3910820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2517374" y="312718"/>
                </a:lnTo>
              </a:path>
            </a:pathLst>
          </a:custGeom>
          <a:solidFill>
            <a:srgbClr val="4C787E"/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298862" y="2926038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3569953" y="692691"/>
                </a:lnTo>
              </a:path>
            </a:pathLst>
          </a:custGeom>
          <a:solidFill>
            <a:srgbClr val="578990"/>
          </a:solidFill>
          <a:ln/>
        </p:spPr>
      </p:sp>
      <p:sp>
        <p:nvSpPr>
          <p:cNvPr id="14" name="Shape 12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5294939" y="1941257"/>
                </a:moveTo>
                <a:lnTo>
                  <a:pt x="5293079" y="1474470"/>
                </a:lnTo>
                <a:lnTo>
                  <a:pt x="5165663" y="1268730"/>
                </a:lnTo>
                <a:lnTo>
                  <a:pt x="4622532" y="1072664"/>
                </a:lnTo>
              </a:path>
            </a:pathLst>
          </a:custGeom>
          <a:solidFill>
            <a:srgbClr val="629BA2"/>
          </a:solidFill>
          <a:ln/>
        </p:spPr>
      </p:sp>
      <p:sp>
        <p:nvSpPr>
          <p:cNvPr id="15" name="Shape 13"/>
          <p:cNvSpPr/>
          <p:nvPr/>
        </p:nvSpPr>
        <p:spPr>
          <a:xfrm flipH="1">
            <a:off x="0" y="0"/>
            <a:ext cx="5309006" cy="6858000"/>
          </a:xfrm>
          <a:custGeom>
            <a:avLst/>
            <a:gdLst/>
            <a:ahLst/>
            <a:cxnLst/>
            <a:rect l="l" t="t" r="r" b="b"/>
            <a:pathLst>
              <a:path w="5309006" h="6858000">
                <a:moveTo>
                  <a:pt x="3655251" y="0"/>
                </a:moveTo>
                <a:lnTo>
                  <a:pt x="5309006" y="0"/>
                </a:lnTo>
                <a:lnTo>
                  <a:pt x="5309006" y="6858000"/>
                </a:lnTo>
                <a:lnTo>
                  <a:pt x="3823546" y="6858000"/>
                </a:lnTo>
                <a:lnTo>
                  <a:pt x="3755591" y="6835369"/>
                </a:lnTo>
                <a:cubicBezTo>
                  <a:pt x="2706001" y="6485611"/>
                  <a:pt x="736890" y="5808040"/>
                  <a:pt x="141750" y="5572125"/>
                </a:cubicBezTo>
                <a:cubicBezTo>
                  <a:pt x="-9556" y="5474056"/>
                  <a:pt x="37694" y="5399303"/>
                  <a:pt x="0" y="5314950"/>
                </a:cubicBezTo>
                <a:cubicBezTo>
                  <a:pt x="32916" y="4592803"/>
                  <a:pt x="32916" y="2285771"/>
                  <a:pt x="14334" y="1476527"/>
                </a:cubicBezTo>
                <a:cubicBezTo>
                  <a:pt x="61584" y="1412748"/>
                  <a:pt x="16458" y="1340053"/>
                  <a:pt x="141750" y="1266673"/>
                </a:cubicBezTo>
                <a:close/>
              </a:path>
            </a:pathLst>
          </a:cu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031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QUIZ</a:t>
            </a:r>
            <a:endParaRPr lang="en-US" sz="8800" dirty="0"/>
          </a:p>
        </p:txBody>
      </p:sp>
      <p:sp>
        <p:nvSpPr>
          <p:cNvPr id="17" name="Text 15"/>
          <p:cNvSpPr/>
          <p:nvPr/>
        </p:nvSpPr>
        <p:spPr>
          <a:xfrm>
            <a:off x="77724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 scenarios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Pick A, B, or 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52160" y="17373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Test yourself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52160" y="228600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72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Is it phishing?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5852160" y="42976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Read each scenario, choose an answer, then check it against the answer slide.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Quiz: phishing or legit?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30352" y="1216152"/>
            <a:ext cx="457200" cy="457200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 email from "IT-support@yourc0mpany.com" says your account will be deleted in 1 hour unless you click a link.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719072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Legit: IT sends account notices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Phishing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Legit if the link looks official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" y="2167128"/>
            <a:ext cx="457200" cy="457200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1396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text says your parcel is on hold: "Pay a $1.99 redelivery fee at this link." You are not expecting a delivery.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6700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Smishing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Legit: the fee is small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Reply to the text to check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3118104"/>
            <a:ext cx="457200" cy="457200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09067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Your manager’s usual address sends the regular weekly meeting invite: no sign-in link, no attachment, no request.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21024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Most likely legit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Phishing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Delete it unread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457200" cy="457200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04164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caller says they are from the IT help desk and need your password to fix your mailbox.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572000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Give it: IT asked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Hang up; call IT on a known number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Give it, then change 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5020056"/>
            <a:ext cx="457200" cy="457200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499262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 unknown vendor emails "Invoice_overdue.zip" and demands payment today.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22976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Open the zip to check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Reply to ask who they are      </a:t>
            </a:r>
            <a:r>
              <a:rPr lang="en-US" sz="1400" b="1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C)  </a:t>
            </a:r>
            <a:r>
              <a:rPr lang="en-US" sz="1400" dirty="0">
                <a:solidFill>
                  <a:srgbClr val="E7E6E6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Don't open it; report 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73B6B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Answers and the 3 golden rules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30352" y="1371600"/>
            <a:ext cx="457200" cy="457200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3258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Lookalike domain (0 for o) plus a 1-hour threat.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0352" y="2258568"/>
            <a:ext cx="457200" cy="457200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22128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Unexpected fee plus a link is a classic smishing lure.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0352" y="3145536"/>
            <a:ext cx="457200" cy="457200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099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30998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Known sender, expected, and asks for nothing sensitive.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0352" y="4032504"/>
            <a:ext cx="457200" cy="457200"/>
          </a:xfrm>
          <a:prstGeom prst="ellipse">
            <a:avLst/>
          </a:prstGeom>
          <a:solidFill>
            <a:srgbClr val="51B49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986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45920" y="39867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Vishing: real IT never asks for your password.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0352" y="4919472"/>
            <a:ext cx="457200" cy="457200"/>
          </a:xfrm>
          <a:prstGeom prst="ellipse">
            <a:avLst/>
          </a:prstGeom>
          <a:solidFill>
            <a:srgbClr val="73B6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4873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1B49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45920" y="487375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Surprise .zip plus payment pressure: report it.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136469"/>
                </a:lnTo>
                <a:lnTo>
                  <a:pt x="3958046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01010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947057"/>
                </a:lnTo>
                <a:lnTo>
                  <a:pt x="3298371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070C0C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757646"/>
                </a:lnTo>
                <a:lnTo>
                  <a:pt x="2638697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0E1718"/>
          </a:solidFill>
          <a:ln/>
        </p:spPr>
      </p:sp>
      <p:sp>
        <p:nvSpPr>
          <p:cNvPr id="27" name="Shape 25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568234"/>
                </a:lnTo>
                <a:lnTo>
                  <a:pt x="1979023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162324"/>
          </a:solidFill>
          <a:ln/>
        </p:spPr>
      </p:sp>
      <p:sp>
        <p:nvSpPr>
          <p:cNvPr id="28" name="Shape 26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378823"/>
                </a:lnTo>
                <a:lnTo>
                  <a:pt x="1319349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1E2F32"/>
          </a:solidFill>
          <a:ln/>
        </p:spPr>
      </p:sp>
      <p:sp>
        <p:nvSpPr>
          <p:cNvPr id="29" name="Shape 27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89411"/>
                </a:lnTo>
                <a:lnTo>
                  <a:pt x="659674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263D40"/>
          </a:solidFill>
          <a:ln/>
        </p:spPr>
      </p:sp>
      <p:sp>
        <p:nvSpPr>
          <p:cNvPr id="30" name="Shape 28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546678" y="20398"/>
                </a:lnTo>
                <a:lnTo>
                  <a:pt x="71042" y="1305482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2F4A4E"/>
          </a:solidFill>
          <a:ln/>
        </p:spPr>
      </p:sp>
      <p:sp>
        <p:nvSpPr>
          <p:cNvPr id="31" name="Shape 29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3958046" y="0"/>
                </a:lnTo>
                <a:lnTo>
                  <a:pt x="0" y="1136469"/>
                </a:lnTo>
                <a:lnTo>
                  <a:pt x="0" y="91440"/>
                </a:lnTo>
              </a:path>
            </a:pathLst>
          </a:custGeom>
          <a:solidFill>
            <a:srgbClr val="38595E"/>
          </a:solidFill>
          <a:ln/>
        </p:spPr>
      </p:sp>
      <p:sp>
        <p:nvSpPr>
          <p:cNvPr id="32" name="Shape 30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3298371" y="0"/>
                </a:lnTo>
                <a:lnTo>
                  <a:pt x="0" y="947057"/>
                </a:lnTo>
                <a:lnTo>
                  <a:pt x="0" y="91440"/>
                </a:lnTo>
              </a:path>
            </a:pathLst>
          </a:custGeom>
          <a:solidFill>
            <a:srgbClr val="42686E"/>
          </a:solidFill>
          <a:ln/>
        </p:spPr>
      </p:sp>
      <p:sp>
        <p:nvSpPr>
          <p:cNvPr id="33" name="Shape 31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2638697" y="0"/>
                </a:lnTo>
                <a:lnTo>
                  <a:pt x="0" y="757646"/>
                </a:lnTo>
                <a:lnTo>
                  <a:pt x="0" y="91440"/>
                </a:lnTo>
              </a:path>
            </a:pathLst>
          </a:custGeom>
          <a:solidFill>
            <a:srgbClr val="4C787E"/>
          </a:solidFill>
          <a:ln/>
        </p:spPr>
      </p:sp>
      <p:sp>
        <p:nvSpPr>
          <p:cNvPr id="34" name="Shape 32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1979023" y="0"/>
                </a:lnTo>
                <a:lnTo>
                  <a:pt x="0" y="568234"/>
                </a:lnTo>
                <a:lnTo>
                  <a:pt x="0" y="91440"/>
                </a:lnTo>
              </a:path>
            </a:pathLst>
          </a:custGeom>
          <a:solidFill>
            <a:srgbClr val="578990"/>
          </a:solidFill>
          <a:ln/>
        </p:spPr>
      </p:sp>
      <p:sp>
        <p:nvSpPr>
          <p:cNvPr id="35" name="Shape 33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1319349" y="0"/>
                </a:lnTo>
                <a:lnTo>
                  <a:pt x="0" y="378823"/>
                </a:lnTo>
                <a:lnTo>
                  <a:pt x="0" y="91440"/>
                </a:lnTo>
              </a:path>
            </a:pathLst>
          </a:custGeom>
          <a:solidFill>
            <a:srgbClr val="629BA2"/>
          </a:solidFill>
          <a:ln/>
        </p:spPr>
      </p:sp>
      <p:sp>
        <p:nvSpPr>
          <p:cNvPr id="36" name="Shape 34"/>
          <p:cNvSpPr/>
          <p:nvPr/>
        </p:nvSpPr>
        <p:spPr>
          <a:xfrm>
            <a:off x="7086600" y="128016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659674" y="0"/>
                </a:lnTo>
                <a:lnTo>
                  <a:pt x="0" y="189411"/>
                </a:lnTo>
                <a:lnTo>
                  <a:pt x="0" y="91440"/>
                </a:lnTo>
              </a:path>
            </a:pathLst>
          </a:custGeom>
          <a:solidFill>
            <a:srgbClr val="6DADB5"/>
          </a:solidFill>
          <a:ln/>
        </p:spPr>
      </p:sp>
      <p:sp>
        <p:nvSpPr>
          <p:cNvPr id="37" name="Shape 35"/>
          <p:cNvSpPr/>
          <p:nvPr/>
        </p:nvSpPr>
        <p:spPr>
          <a:xfrm>
            <a:off x="7086600" y="1280160"/>
            <a:ext cx="4617720" cy="1325880"/>
          </a:xfrm>
          <a:prstGeom prst="roundRect">
            <a:avLst>
              <a:gd name="adj" fmla="val 6897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1417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STOP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315200" y="1965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Don't click, reply, or download.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41" name="Shape 39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659674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189411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42" name="Shape 40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1319349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378823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43" name="Shape 41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1979023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568234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44" name="Shape 42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2638697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757646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45" name="Shape 43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3298371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47057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46" name="Shape 44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3958046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1136469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47" name="Shape 45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546678" y="20398"/>
                </a:move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71042" y="1305482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48" name="Shape 46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189411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659674" y="132588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49" name="Shape 47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378823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1319349" y="132588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50" name="Shape 48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568234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1979023" y="132588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51" name="Shape 49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757646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2638697" y="132588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52" name="Shape 50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947057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3298371" y="132588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53" name="Shape 51"/>
          <p:cNvSpPr/>
          <p:nvPr/>
        </p:nvSpPr>
        <p:spPr>
          <a:xfrm>
            <a:off x="7086600" y="278892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1136469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3958046" y="132588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54" name="Shape 52"/>
          <p:cNvSpPr/>
          <p:nvPr/>
        </p:nvSpPr>
        <p:spPr>
          <a:xfrm>
            <a:off x="7086600" y="2788920"/>
            <a:ext cx="4617720" cy="1325880"/>
          </a:xfrm>
          <a:prstGeom prst="roundRect">
            <a:avLst>
              <a:gd name="adj" fmla="val 6897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THINK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7315200" y="34747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Check sender, links, and urgency. Verify via a known channel.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91440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1440"/>
                </a:lnTo>
              </a:path>
            </a:pathLst>
          </a:custGeom>
          <a:solidFill>
            <a:srgbClr val="030303"/>
          </a:solidFill>
          <a:ln/>
        </p:spPr>
      </p:sp>
      <p:sp>
        <p:nvSpPr>
          <p:cNvPr id="58" name="Shape 56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659674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189411"/>
                </a:lnTo>
              </a:path>
            </a:pathLst>
          </a:custGeom>
          <a:solidFill>
            <a:srgbClr val="080808"/>
          </a:solidFill>
          <a:ln/>
        </p:spPr>
      </p:sp>
      <p:sp>
        <p:nvSpPr>
          <p:cNvPr id="59" name="Shape 57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1319349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378823"/>
                </a:lnTo>
              </a:path>
            </a:pathLst>
          </a:custGeom>
          <a:solidFill>
            <a:srgbClr val="0E0E0E"/>
          </a:solidFill>
          <a:ln/>
        </p:spPr>
      </p:sp>
      <p:sp>
        <p:nvSpPr>
          <p:cNvPr id="60" name="Shape 58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1979023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568234"/>
                </a:lnTo>
              </a:path>
            </a:pathLst>
          </a:custGeom>
          <a:solidFill>
            <a:srgbClr val="131313"/>
          </a:solidFill>
          <a:ln/>
        </p:spPr>
      </p:sp>
      <p:sp>
        <p:nvSpPr>
          <p:cNvPr id="61" name="Shape 59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2638697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757646"/>
                </a:lnTo>
              </a:path>
            </a:pathLst>
          </a:custGeom>
          <a:solidFill>
            <a:srgbClr val="191919"/>
          </a:solidFill>
          <a:ln/>
        </p:spPr>
      </p:sp>
      <p:sp>
        <p:nvSpPr>
          <p:cNvPr id="62" name="Shape 60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3298371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947057"/>
                </a:lnTo>
              </a:path>
            </a:pathLst>
          </a:custGeom>
          <a:solidFill>
            <a:srgbClr val="1E1E1E"/>
          </a:solidFill>
          <a:ln/>
        </p:spPr>
      </p:sp>
      <p:sp>
        <p:nvSpPr>
          <p:cNvPr id="63" name="Shape 61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3958046" y="0"/>
                </a:moveTo>
                <a:lnTo>
                  <a:pt x="4526280" y="0"/>
                </a:ln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0" y="1234440"/>
                </a:lnTo>
                <a:lnTo>
                  <a:pt x="0" y="1136469"/>
                </a:lnTo>
              </a:path>
            </a:pathLst>
          </a:custGeom>
          <a:solidFill>
            <a:srgbClr val="242424"/>
          </a:solidFill>
          <a:ln/>
        </p:spPr>
      </p:sp>
      <p:sp>
        <p:nvSpPr>
          <p:cNvPr id="64" name="Shape 62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546678" y="20398"/>
                </a:moveTo>
                <a:lnTo>
                  <a:pt x="4617720" y="91440"/>
                </a:lnTo>
                <a:lnTo>
                  <a:pt x="4617720" y="1234440"/>
                </a:lnTo>
                <a:lnTo>
                  <a:pt x="4526280" y="1325880"/>
                </a:lnTo>
                <a:lnTo>
                  <a:pt x="91440" y="1325880"/>
                </a:lnTo>
                <a:lnTo>
                  <a:pt x="71042" y="1305482"/>
                </a:lnTo>
              </a:path>
            </a:pathLst>
          </a:custGeom>
          <a:solidFill>
            <a:srgbClr val="292929"/>
          </a:solidFill>
          <a:ln/>
        </p:spPr>
      </p:sp>
      <p:sp>
        <p:nvSpPr>
          <p:cNvPr id="65" name="Shape 63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189411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659674" y="1325880"/>
                </a:lnTo>
              </a:path>
            </a:pathLst>
          </a:custGeom>
          <a:solidFill>
            <a:srgbClr val="2E2E2E"/>
          </a:solidFill>
          <a:ln/>
        </p:spPr>
      </p:sp>
      <p:sp>
        <p:nvSpPr>
          <p:cNvPr id="66" name="Shape 64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378823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1319349" y="1325880"/>
                </a:lnTo>
              </a:path>
            </a:pathLst>
          </a:custGeom>
          <a:solidFill>
            <a:srgbClr val="343434"/>
          </a:solidFill>
          <a:ln/>
        </p:spPr>
      </p:sp>
      <p:sp>
        <p:nvSpPr>
          <p:cNvPr id="67" name="Shape 65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568234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1979023" y="1325880"/>
                </a:lnTo>
              </a:path>
            </a:pathLst>
          </a:custGeom>
          <a:solidFill>
            <a:srgbClr val="393939"/>
          </a:solidFill>
          <a:ln/>
        </p:spPr>
      </p:sp>
      <p:sp>
        <p:nvSpPr>
          <p:cNvPr id="68" name="Shape 66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757646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2638697" y="1325880"/>
                </a:lnTo>
              </a:path>
            </a:pathLst>
          </a:custGeom>
          <a:solidFill>
            <a:srgbClr val="3F3F3F"/>
          </a:solidFill>
          <a:ln/>
        </p:spPr>
      </p:sp>
      <p:sp>
        <p:nvSpPr>
          <p:cNvPr id="69" name="Shape 67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947057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3298371" y="1325880"/>
                </a:lnTo>
              </a:path>
            </a:pathLst>
          </a:custGeom>
          <a:solidFill>
            <a:srgbClr val="444444"/>
          </a:solidFill>
          <a:ln/>
        </p:spPr>
      </p:sp>
      <p:sp>
        <p:nvSpPr>
          <p:cNvPr id="70" name="Shape 68"/>
          <p:cNvSpPr/>
          <p:nvPr/>
        </p:nvSpPr>
        <p:spPr>
          <a:xfrm>
            <a:off x="7086600" y="4297680"/>
            <a:ext cx="4617720" cy="1325880"/>
          </a:xfrm>
          <a:custGeom>
            <a:avLst/>
            <a:gdLst/>
            <a:ahLst/>
            <a:cxnLst/>
            <a:rect l="l" t="t" r="r" b="b"/>
            <a:pathLst>
              <a:path w="4617720" h="1325880">
                <a:moveTo>
                  <a:pt x="4617720" y="1136469"/>
                </a:moveTo>
                <a:lnTo>
                  <a:pt x="4617720" y="1234440"/>
                </a:lnTo>
                <a:lnTo>
                  <a:pt x="4526280" y="1325880"/>
                </a:lnTo>
                <a:lnTo>
                  <a:pt x="3958046" y="1325880"/>
                </a:lnTo>
              </a:path>
            </a:pathLst>
          </a:custGeom>
          <a:solidFill>
            <a:srgbClr val="4A4A4A"/>
          </a:solidFill>
          <a:ln/>
        </p:spPr>
      </p:sp>
      <p:sp>
        <p:nvSpPr>
          <p:cNvPr id="71" name="Shape 69"/>
          <p:cNvSpPr/>
          <p:nvPr/>
        </p:nvSpPr>
        <p:spPr>
          <a:xfrm>
            <a:off x="7086600" y="4297680"/>
            <a:ext cx="4617720" cy="1325880"/>
          </a:xfrm>
          <a:prstGeom prst="roundRect">
            <a:avLst>
              <a:gd name="adj" fmla="val 6897"/>
            </a:avLst>
          </a:prstGeom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0" y="4434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REPORT</a:t>
            </a:r>
            <a:endParaRPr lang="en-US" sz="2800" dirty="0"/>
          </a:p>
        </p:txBody>
      </p:sp>
      <p:sp>
        <p:nvSpPr>
          <p:cNvPr id="73" name="Text 71"/>
          <p:cNvSpPr/>
          <p:nvPr/>
        </p:nvSpPr>
        <p:spPr>
          <a:xfrm>
            <a:off x="7315200" y="4983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Use Report phishing or tell security, then delete.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342900" y="6223406"/>
            <a:ext cx="1282903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consolat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Cyber Security Intern</dc:creator>
  <cp:lastModifiedBy>CodeAlpha Cyber Security Intern</cp:lastModifiedBy>
  <cp:revision>1</cp:revision>
  <dcterms:created xsi:type="dcterms:W3CDTF">2026-10-23T20:03:51Z</dcterms:created>
  <dcterms:modified xsi:type="dcterms:W3CDTF">2026-10-23T20:03:51Z</dcterms:modified>
</cp:coreProperties>
</file>